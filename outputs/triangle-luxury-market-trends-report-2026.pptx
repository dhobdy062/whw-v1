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cfa5e927142c0" /><Relationship Type="http://schemas.openxmlformats.org/officeDocument/2006/relationships/extended-properties" Target="/docProps/app.xml" Id="Re35039674f3e46bc" /><Relationship Type="http://schemas.openxmlformats.org/officeDocument/2006/relationships/officeDocument" Target="/ppt/presentation.xml" Id="Rd780672a2e24439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31d4f6549364c15"/>
  </p:sldMasterIdLst>
  <p:notesMasterIdLst>
    <p:notesMasterId xmlns:r="http://schemas.openxmlformats.org/officeDocument/2006/relationships" r:id="Ra95f9988713b4757"/>
  </p:notesMasterIdLst>
  <p:sldIdLst>
    <p:sldId xmlns:r="http://schemas.openxmlformats.org/officeDocument/2006/relationships" id="256" r:id="Re347500b66664902"/>
    <p:sldId xmlns:r="http://schemas.openxmlformats.org/officeDocument/2006/relationships" id="257" r:id="R038a03b29ef74078"/>
    <p:sldId xmlns:r="http://schemas.openxmlformats.org/officeDocument/2006/relationships" id="258" r:id="Rc15ca0aaf9d04399"/>
    <p:sldId xmlns:r="http://schemas.openxmlformats.org/officeDocument/2006/relationships" id="259" r:id="Rccbb5fa06a7047fe"/>
    <p:sldId xmlns:r="http://schemas.openxmlformats.org/officeDocument/2006/relationships" id="260" r:id="Rb02131e2ccc74cde"/>
    <p:sldId xmlns:r="http://schemas.openxmlformats.org/officeDocument/2006/relationships" id="261" r:id="R0734483269c244ec"/>
    <p:sldId xmlns:r="http://schemas.openxmlformats.org/officeDocument/2006/relationships" id="262" r:id="Rb8ac7a22583647d2"/>
  </p:sldIdLst>
  <p:sldSz cx="12192000" cy="6858000"/>
  <p:notesSz cx="6858000" cy="9144000"/>
  <p:embeddedFontLst>
    <p:embeddedFont>
      <p:font typeface="Lora"/>
      <p:regular xmlns:r="http://schemas.openxmlformats.org/officeDocument/2006/relationships" r:id="R79b7c9176c534ced"/>
      <p:bold xmlns:r="http://schemas.openxmlformats.org/officeDocument/2006/relationships" r:id="Rf0ad813c57db4611"/>
      <p:italic xmlns:r="http://schemas.openxmlformats.org/officeDocument/2006/relationships" r:id="R627914c09a414529"/>
      <p:boldItalic xmlns:r="http://schemas.openxmlformats.org/officeDocument/2006/relationships" r:id="R8816c42c974444d2"/>
    </p:embeddedFont>
    <p:embeddedFont>
      <p:font typeface="OpenAI Sans"/>
      <p:regular xmlns:r="http://schemas.openxmlformats.org/officeDocument/2006/relationships" r:id="R81b366b0383e46db"/>
      <p:bold xmlns:r="http://schemas.openxmlformats.org/officeDocument/2006/relationships" r:id="Rb015bdb307bc4e46"/>
      <p:italic xmlns:r="http://schemas.openxmlformats.org/officeDocument/2006/relationships" r:id="R83c870efb3294f65"/>
      <p:boldItalic xmlns:r="http://schemas.openxmlformats.org/officeDocument/2006/relationships" r:id="Rad80503fac5148ef"/>
    </p:embeddedFont>
    <p:embeddedFont>
      <p:font typeface="Roboto"/>
      <p:regular xmlns:r="http://schemas.openxmlformats.org/officeDocument/2006/relationships" r:id="Rb605b71f56b747e0"/>
      <p:bold xmlns:r="http://schemas.openxmlformats.org/officeDocument/2006/relationships" r:id="R728a5ca164ad4d69"/>
      <p:italic xmlns:r="http://schemas.openxmlformats.org/officeDocument/2006/relationships" r:id="Rebe6f3be0e3a4d8c"/>
      <p:boldItalic xmlns:r="http://schemas.openxmlformats.org/officeDocument/2006/relationships" r:id="R2a8caf06b18648f4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d9b54ed4014cd2" /><Relationship Type="http://schemas.openxmlformats.org/officeDocument/2006/relationships/slideMaster" Target="/ppt/slideMasters/slideMaster1.xml" Id="R431d4f6549364c15" /><Relationship Type="http://schemas.openxmlformats.org/officeDocument/2006/relationships/notesMaster" Target="/ppt/notesMasters/notesMaster1.xml" Id="Ra95f9988713b4757" /><Relationship Type="http://schemas.openxmlformats.org/officeDocument/2006/relationships/presProps" Target="/ppt/presProps.xml" Id="Rba3a1099cd744942" /><Relationship Type="http://schemas.openxmlformats.org/officeDocument/2006/relationships/viewProps" Target="/ppt/viewProps.xml" Id="R3e2d7dad097647aa" /><Relationship Type="http://schemas.openxmlformats.org/officeDocument/2006/relationships/tableStyles" Target="/ppt/tableStyles.xml" Id="R2a6d9b196397460b" /><Relationship Type="http://schemas.openxmlformats.org/officeDocument/2006/relationships/font" Target="/ppt/fonts/font.dat" Id="R79b7c9176c534ced" /><Relationship Type="http://schemas.openxmlformats.org/officeDocument/2006/relationships/font" Target="/ppt/fonts/font2.dat" Id="Rf0ad813c57db4611" /><Relationship Type="http://schemas.openxmlformats.org/officeDocument/2006/relationships/font" Target="/ppt/fonts/font3.dat" Id="R627914c09a414529" /><Relationship Type="http://schemas.openxmlformats.org/officeDocument/2006/relationships/font" Target="/ppt/fonts/font4.dat" Id="R8816c42c974444d2" /><Relationship Type="http://schemas.openxmlformats.org/officeDocument/2006/relationships/font" Target="/ppt/fonts/font5.dat" Id="R81b366b0383e46db" /><Relationship Type="http://schemas.openxmlformats.org/officeDocument/2006/relationships/font" Target="/ppt/fonts/font6.dat" Id="Rb015bdb307bc4e46" /><Relationship Type="http://schemas.openxmlformats.org/officeDocument/2006/relationships/font" Target="/ppt/fonts/font7.dat" Id="R83c870efb3294f65" /><Relationship Type="http://schemas.openxmlformats.org/officeDocument/2006/relationships/font" Target="/ppt/fonts/font8.dat" Id="Rad80503fac5148ef" /><Relationship Type="http://schemas.openxmlformats.org/officeDocument/2006/relationships/font" Target="/ppt/fonts/font9.dat" Id="Rb605b71f56b747e0" /><Relationship Type="http://schemas.openxmlformats.org/officeDocument/2006/relationships/font" Target="/ppt/fonts/font10.dat" Id="R728a5ca164ad4d69" /><Relationship Type="http://schemas.openxmlformats.org/officeDocument/2006/relationships/font" Target="/ppt/fonts/font11.dat" Id="Rebe6f3be0e3a4d8c" /><Relationship Type="http://schemas.openxmlformats.org/officeDocument/2006/relationships/font" Target="/ppt/fonts/font12.dat" Id="R2a8caf06b18648f4" /><Relationship Type="http://schemas.openxmlformats.org/officeDocument/2006/relationships/slide" Target="/ppt/slides/slide1.xml" Id="Re347500b66664902" /><Relationship Type="http://schemas.openxmlformats.org/officeDocument/2006/relationships/slide" Target="/ppt/slides/slide2.xml" Id="R038a03b29ef74078" /><Relationship Type="http://schemas.openxmlformats.org/officeDocument/2006/relationships/slide" Target="/ppt/slides/slide3.xml" Id="Rc15ca0aaf9d04399" /><Relationship Type="http://schemas.openxmlformats.org/officeDocument/2006/relationships/slide" Target="/ppt/slides/slide4.xml" Id="Rccbb5fa06a7047fe" /><Relationship Type="http://schemas.openxmlformats.org/officeDocument/2006/relationships/slide" Target="/ppt/slides/slide5.xml" Id="Rb02131e2ccc74cde" /><Relationship Type="http://schemas.openxmlformats.org/officeDocument/2006/relationships/slide" Target="/ppt/slides/slide6.xml" Id="R0734483269c244ec" /><Relationship Type="http://schemas.openxmlformats.org/officeDocument/2006/relationships/slide" Target="/ppt/slides/slide7.xml" Id="Rb8ac7a225836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eb9e552fde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7d77e43dd4930" /><Relationship Type="http://schemas.openxmlformats.org/officeDocument/2006/relationships/notesMaster" Target="/ppt/notesMasters/notesMaster1.xml" Id="R1dc9c41ecdac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2bcb7d4a047e7" /><Relationship Type="http://schemas.openxmlformats.org/officeDocument/2006/relationships/notesMaster" Target="/ppt/notesMasters/notesMaster1.xml" Id="Re56ce9be495b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283f88d1754d22" /><Relationship Type="http://schemas.openxmlformats.org/officeDocument/2006/relationships/notesMaster" Target="/ppt/notesMasters/notesMaster1.xml" Id="R7120554688e2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fd03a6e1bb4542" /><Relationship Type="http://schemas.openxmlformats.org/officeDocument/2006/relationships/notesMaster" Target="/ppt/notesMasters/notesMaster1.xml" Id="R4021d143948d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bdaa23f6804a52" /><Relationship Type="http://schemas.openxmlformats.org/officeDocument/2006/relationships/notesMaster" Target="/ppt/notesMasters/notesMaster1.xml" Id="R04586bf691fb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c297ae8625440b" /><Relationship Type="http://schemas.openxmlformats.org/officeDocument/2006/relationships/notesMaster" Target="/ppt/notesMasters/notesMaster1.xml" Id="Re8b68a31722a48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400ed100c4fab" /><Relationship Type="http://schemas.openxmlformats.org/officeDocument/2006/relationships/notesMaster" Target="/ppt/notesMasters/notesMaster1.xml" Id="Rb51c943a2964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2026 Triangle and Raleigh luxury market analysis for Warren Realty.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Axios Raleigh (2026-01-07); WRAL citing Triangle MLS (2026-03); L1st RE Group (2026-02-22); Realtor.com (2026); NCDOR and NC OSBM (2026). Analysis separates Triangle, Wake County, Raleigh, overall-market, and luxury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Axios Raleigh, 2026-01-07; WRAL citing Triangle MLS, Wake County January 2026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L1st RE Group, updated 2026-02-22 (third-party luxury analysis); Realtor.com 2026 Raleigh vs. Washington, DC luxury comparison. Strategic implications are analysis, not causal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context: Axios Raleigh reported that out-of-state relocations from pricier markets are often represented among Triangle cash buyers. Persona is a strategic planning construct and excludes protected-class targeting.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 based on the market evidence and competitive-gap analysis supplied by the client. Neighborhood content must use neutral property, access, cost, and official school-data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Decision: prioritize the website-led content engine, then distribute through video, email, and social channels. No revenue or sale-speed guarantee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a3d98f58145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fa2cc017440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44ce7f89546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8b37f219546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dd88d81fd46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013a77e76478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542226d1241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c6213cc61486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70dc671b341e2" /><Relationship Type="http://schemas.openxmlformats.org/officeDocument/2006/relationships/slideLayout" Target="/ppt/slideLayouts/slideLayout1.xml" Id="Rdce18ad1ddcc4312" /><Relationship Type="http://schemas.openxmlformats.org/officeDocument/2006/relationships/slideLayout" Target="/ppt/slideLayouts/slideLayout2.xml" Id="R05a0c1e1a0064ebb" /><Relationship Type="http://schemas.openxmlformats.org/officeDocument/2006/relationships/slideLayout" Target="/ppt/slideLayouts/slideLayout3.xml" Id="Rb597a11532df4d07" /><Relationship Type="http://schemas.openxmlformats.org/officeDocument/2006/relationships/slideLayout" Target="/ppt/slideLayouts/slideLayout4.xml" Id="R763e2e0375b44411" /><Relationship Type="http://schemas.openxmlformats.org/officeDocument/2006/relationships/slideLayout" Target="/ppt/slideLayouts/slideLayout5.xml" Id="Rea5b075d871e434f" /><Relationship Type="http://schemas.openxmlformats.org/officeDocument/2006/relationships/slideLayout" Target="/ppt/slideLayouts/slideLayout6.xml" Id="Raba045c80c3747a7" /><Relationship Type="http://schemas.openxmlformats.org/officeDocument/2006/relationships/slideLayout" Target="/ppt/slideLayouts/slideLayout7.xml" Id="Rb7d52edf12404eb6" /><Relationship Type="http://schemas.openxmlformats.org/officeDocument/2006/relationships/slideLayout" Target="/ppt/slideLayouts/slideLayout8.xml" Id="Rf9e9bdeb35fd41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18ad1ddcc4312"/>
    <p:sldLayoutId xmlns:r="http://schemas.openxmlformats.org/officeDocument/2006/relationships" id="2147483650" r:id="R05a0c1e1a0064ebb"/>
    <p:sldLayoutId xmlns:r="http://schemas.openxmlformats.org/officeDocument/2006/relationships" id="2147483651" r:id="Rb597a11532df4d07"/>
    <p:sldLayoutId xmlns:r="http://schemas.openxmlformats.org/officeDocument/2006/relationships" id="2147483652" r:id="R763e2e0375b44411"/>
    <p:sldLayoutId xmlns:r="http://schemas.openxmlformats.org/officeDocument/2006/relationships" id="2147483653" r:id="Rea5b075d871e434f"/>
    <p:sldLayoutId xmlns:r="http://schemas.openxmlformats.org/officeDocument/2006/relationships" id="2147483654" r:id="Raba045c80c3747a7"/>
    <p:sldLayoutId xmlns:r="http://schemas.openxmlformats.org/officeDocument/2006/relationships" id="2147483655" r:id="Rb7d52edf12404eb6"/>
    <p:sldLayoutId xmlns:r="http://schemas.openxmlformats.org/officeDocument/2006/relationships" id="2147483656" r:id="Rf9e9bdeb35fd41c7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058c236894ef9" /><Relationship Type="http://schemas.openxmlformats.org/officeDocument/2006/relationships/notesSlide" Target="/ppt/notesSlides/notesSlide1.xml" Id="R4df8feedd3f7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db48b6ad84200" /><Relationship Type="http://schemas.openxmlformats.org/officeDocument/2006/relationships/notesSlide" Target="/ppt/notesSlides/notesSlide2.xml" Id="Rccbc78be6e1247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849a3daf54512" /><Relationship Type="http://schemas.openxmlformats.org/officeDocument/2006/relationships/notesSlide" Target="/ppt/notesSlides/notesSlide3.xml" Id="Reeade67f67bb4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73d0a77cd4742" /><Relationship Type="http://schemas.openxmlformats.org/officeDocument/2006/relationships/notesSlide" Target="/ppt/notesSlides/notesSlide4.xml" Id="Rfa5be4571a82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d6cfdd51144d7" /><Relationship Type="http://schemas.openxmlformats.org/officeDocument/2006/relationships/notesSlide" Target="/ppt/notesSlides/notesSlide5.xml" Id="R51e8c30bc5264a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b75c801724124" /><Relationship Type="http://schemas.openxmlformats.org/officeDocument/2006/relationships/notesSlide" Target="/ppt/notesSlides/notesSlide6.xml" Id="R1b4d698b70f647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330929f9c4b6e" /><Relationship Type="http://schemas.openxmlformats.org/officeDocument/2006/relationships/notesSlide" Target="/ppt/notesSlides/notesSlide7.xml" Id="Re38fae53017741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Triangle Luxury</a:t>
            </a:r>
          </a:p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Market Trends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Market evidence, buyer implications, and the digital growth opportunity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2026 Report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A balanced market makes</a:t>
            </a:r>
            <a:br/>
            <a:r>
              <a:rPr sz="3600">
                <a:solidFill>
                  <a:srgbClr val="FF4204"/>
                </a:solidFill>
              </a:rPr>
              <a:t>luxury proof matter more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Triangle pricing has stabilized while inventory and marketing time have expanded. In Raleigh luxury, softer prices and longer exposure raise the cost of weak positioning.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 advantage shifts to agents who make value visible before the first showing—through proof, video, and neighborhood-level guidance.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Market Thesis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signals show a genuinely rebalanced market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These are separate market snapshots—not a blended time series. Together they show price stability, more choice, and longer decision windows.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$425K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Triangle median hovered near this level for three years.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+20.9%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Wake County inventory, Jan. 2026 vs. Jan. 2025.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46 days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Wake County median DOM, up 24.3% year over year.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Luxury is softer—and more sensitive to execution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$995K median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Raleigh luxury median price, reported down 11.6% year over year. A softer price signal raises seller scrutiny of positioning.</a:t>
            </a:r>
            <a:r>
              <a:rPr sz="1800"/>
              <a:t> 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The paradox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Limited luxury supply plus slowing sales suggests weaker demand—not automatic scarcity power. Small pricing errors can compound.</a:t>
            </a:r>
            <a:r>
              <a:rPr sz="1800"/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84-day pace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Typical Raleigh luxury marketing time in a 2026 comparison. Premium listings need a launch plan built for a narrower buyer pool.</a:t>
            </a:r>
            <a:r>
              <a:rPr sz="1800"/>
              <a:t> 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Third-party 2026 analyses point to lower Raleigh luxury pricing, longer marketing time, and limited supply that has not translated into faster sales.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priority buyer is making the decision remotely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Primary: relocating professional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$800K–$2M search range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Neighborhood video tours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>This buyer begins online, often before a local visit. The job is to reduce uncertainty with property facts, commute and cost context, video walkthroughs, and a clear transaction path.</a:t>
            </a:r>
          </a:p>
          <a:p xmlns:a="http://schemas.openxmlformats.org/drawingml/2006/main">
            <a:pPr>
              <a:lnSpc>
                <a:spcPct val="114000"/>
              </a:lnSpc>
              <a:spcAft>
                <a:spcPts val="800"/>
              </a:spcAft>
              <a:buNone/>
            </a:pPr>
            <a:r>
              <a:t>Secondary audience: the local move-up seller who wants evidence that premium marketing can prevent avoidable time on market.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Commute and access context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Cost and value comparison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Property-level market evidence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/>
              <a:t>Remote consultation path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gaps create a defendable digital position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Remote-buyer experience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Neighborhood films, commute context, cost comparisons, and a remote-first consult path turn distance into confidence.</a:t>
            </a:r>
            <a:r>
              <a:rPr sz="1800"/>
              <a:t> 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Neighborhood authority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Publish market analysis by place and price tier. Each insight becomes a web asset and a social-content source.</a:t>
            </a:r>
            <a:r>
              <a:rPr sz="1800"/>
              <a:t>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Seller-side proof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Show the listing launch system: film, staging, distribution, feedback loops, and documented performance where available.</a:t>
            </a:r>
            <a:r>
              <a:rPr sz="1800"/>
              <a:t> 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Most luxury sites stop at IDX. The opportunity is to build a decision-support system that works for both sides of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Triangle Luxury Market Trends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Build one content engine to</a:t>
            </a:r>
            <a:br/>
            <a:r>
              <a:rPr sz="3600">
                <a:solidFill>
                  <a:srgbClr val="FF4204"/>
                </a:solidFill>
              </a:rPr>
              <a:t>win buyers and sellers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Anchor the strategy on the website: neighborhood intelligence, relocation guidance, listing-launch proof, and conversion paths.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Then repurpose every high-value page into video, email, and social content. The same evidence that earns remote-buyer trust also answers the seller’s central question: why this agent, in this market?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Recommended Response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2026-07-13T14:14:56.5860000Z</dcterms:created>
  <dcterms:modified xsi:type="dcterms:W3CDTF">2026-07-13T14:14:56.5860000Z</dcterms:modified>
</coreProperties>
</file>